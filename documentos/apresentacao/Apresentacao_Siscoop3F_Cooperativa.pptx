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69" r:id="rId5"/>
    <p:sldId id="270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5042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9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097280"/>
            <a:ext cx="3291840" cy="411480"/>
          </a:xfrm>
          <a:prstGeom prst="roundRect">
            <a:avLst>
              <a:gd name="adj" fmla="val 44444"/>
            </a:avLst>
          </a:prstGeom>
          <a:solidFill>
            <a:srgbClr val="14422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09728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 DE GESTÃO SISCOOP3F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" y="169164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Modernização, Eficiência e Governança para a </a:t>
            </a:r>
            <a:r>
              <a:rPr lang="en-US" sz="36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Cooperativas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82296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Siscoop3F • Sistema Integrado de Gestão Cooperativa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509760" y="6309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 de 12</a:t>
            </a:r>
            <a:endParaRPr lang="en-US" sz="900" dirty="0"/>
          </a:p>
        </p:txBody>
      </p:sp>
      <p:sp>
        <p:nvSpPr>
          <p:cNvPr id="21" name="Text 2">
            <a:extLst>
              <a:ext uri="{FF2B5EF4-FFF2-40B4-BE49-F238E27FC236}">
                <a16:creationId xmlns:a16="http://schemas.microsoft.com/office/drawing/2014/main" id="{15359F13-047A-4150-B75E-F8C1BF8523EF}"/>
              </a:ext>
            </a:extLst>
          </p:cNvPr>
          <p:cNvSpPr/>
          <p:nvPr/>
        </p:nvSpPr>
        <p:spPr>
          <a:xfrm>
            <a:off x="861506" y="3087802"/>
            <a:ext cx="9675159" cy="604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600" dirty="0">
                <a:solidFill>
                  <a:srgbClr val="D1DC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Modernização, Transparência e Controle: Uma plataforma unificada para conectar Diretoria, Cooperados e Rede Credenciada.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 OPERACIONAL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6858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Gargalos Atuais da Cooperativa e Como o Siscoop3F Resolve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Comparativo direto entre o modelo de gestão manual e a plataforma integrada.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22960" y="1508760"/>
            <a:ext cx="10515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737360"/>
            <a:ext cx="5074920" cy="3749037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1920240"/>
            <a:ext cx="4617720" cy="32004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1920240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MODELO MANUAL ATUAL (SEM SISTEMA)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51560" y="2423160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Planilhas Desconexas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371600" y="257197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Informações espalhadas em planilhas que não conversam entre si, gerando retrabalho e risco de perda de dados.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51560" y="3157365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Inadimplência Silenciosa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371600" y="3324107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Cooperados atrasados usam consultas e exames na rede credenciada gerando custos indevidos para a cooperativa.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51560" y="3873651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Desgaste com Cota Capital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371600" y="4031423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Associados sem visibilidade do valor acumulado em suas quotas, gerando desconfiança e ligações constantes.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51560" y="4661645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Conferência Lenta de Faturas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371600" y="4873211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Dias perdidos digitando e auditando manualmente faturas enviadas pelos prestadores no fim do mês.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263640" y="1728395"/>
            <a:ext cx="5074920" cy="3758002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25400">
            <a:solidFill>
              <a:srgbClr val="16653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92240" y="1920240"/>
            <a:ext cx="4617720" cy="32004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1920240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A IMPLANTAÇÃO DO SISCOOP3F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492240" y="2423160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Plataforma Web Integrada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812280" y="2563005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Tudo em um único banco de dados na nuvem: associados, finanças, cotas, faturamento médico e auditoria.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92240" y="3112544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Trava Automática de Inadimplência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812280" y="3261355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prestador valida o CPF antes de atender. Se inadimplente, o sistema bloqueia na hora.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92240" y="3792966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Portal do Cooperado com Cotas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812280" y="3941774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Extrato digital na palma da mão com valor integralizado, parcelas e link direto para chave PIX.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92240" y="4500279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Faturamento Digital (Regra Dia 05)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812280" y="4649097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Prestadores enviam lotes e NF-e pelo próprio portal. Auditoria médica e contábil em 1 clique.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509760" y="636315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 de 12</a:t>
            </a:r>
            <a:endParaRPr lang="en-US" sz="900" dirty="0"/>
          </a:p>
        </p:txBody>
      </p:sp>
      <p:sp>
        <p:nvSpPr>
          <p:cNvPr id="43" name="Shape 4">
            <a:extLst>
              <a:ext uri="{FF2B5EF4-FFF2-40B4-BE49-F238E27FC236}">
                <a16:creationId xmlns:a16="http://schemas.microsoft.com/office/drawing/2014/main" id="{E930ECB1-BF96-40BE-90EB-E3ED2288AC88}"/>
              </a:ext>
            </a:extLst>
          </p:cNvPr>
          <p:cNvSpPr/>
          <p:nvPr/>
        </p:nvSpPr>
        <p:spPr>
          <a:xfrm>
            <a:off x="853440" y="5595764"/>
            <a:ext cx="10515600" cy="0"/>
          </a:xfrm>
          <a:prstGeom prst="line">
            <a:avLst/>
          </a:prstGeom>
          <a:noFill/>
          <a:ln w="19050">
            <a:solidFill>
              <a:srgbClr val="1E5E3C"/>
            </a:solidFill>
            <a:prstDash val="solid"/>
          </a:ln>
        </p:spPr>
      </p:sp>
      <p:sp>
        <p:nvSpPr>
          <p:cNvPr id="44" name="Shape 5">
            <a:extLst>
              <a:ext uri="{FF2B5EF4-FFF2-40B4-BE49-F238E27FC236}">
                <a16:creationId xmlns:a16="http://schemas.microsoft.com/office/drawing/2014/main" id="{3B258616-B508-4BF9-96C8-D86A143353E8}"/>
              </a:ext>
            </a:extLst>
          </p:cNvPr>
          <p:cNvSpPr/>
          <p:nvPr/>
        </p:nvSpPr>
        <p:spPr>
          <a:xfrm>
            <a:off x="853440" y="5690788"/>
            <a:ext cx="2423160" cy="946675"/>
          </a:xfrm>
          <a:prstGeom prst="roundRect">
            <a:avLst>
              <a:gd name="adj" fmla="val 6667"/>
            </a:avLst>
          </a:prstGeom>
          <a:solidFill>
            <a:srgbClr val="14422B"/>
          </a:solidFill>
          <a:ln w="12700">
            <a:solidFill>
              <a:srgbClr val="1E5E3C"/>
            </a:solidFill>
            <a:prstDash val="solid"/>
          </a:ln>
        </p:spPr>
      </p:sp>
      <p:sp>
        <p:nvSpPr>
          <p:cNvPr id="45" name="Text 6">
            <a:extLst>
              <a:ext uri="{FF2B5EF4-FFF2-40B4-BE49-F238E27FC236}">
                <a16:creationId xmlns:a16="http://schemas.microsoft.com/office/drawing/2014/main" id="{59AA50B4-91AF-43CE-AF20-814D03399AA0}"/>
              </a:ext>
            </a:extLst>
          </p:cNvPr>
          <p:cNvSpPr/>
          <p:nvPr/>
        </p:nvSpPr>
        <p:spPr>
          <a:xfrm>
            <a:off x="990600" y="5827948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ECONOMIA DIRETA</a:t>
            </a:r>
            <a:endParaRPr lang="en-US" sz="800" dirty="0"/>
          </a:p>
        </p:txBody>
      </p:sp>
      <p:sp>
        <p:nvSpPr>
          <p:cNvPr id="46" name="Text 7">
            <a:extLst>
              <a:ext uri="{FF2B5EF4-FFF2-40B4-BE49-F238E27FC236}">
                <a16:creationId xmlns:a16="http://schemas.microsoft.com/office/drawing/2014/main" id="{50BD52C7-A378-47CE-B6FC-5DD3D55B1D71}"/>
              </a:ext>
            </a:extLst>
          </p:cNvPr>
          <p:cNvSpPr/>
          <p:nvPr/>
        </p:nvSpPr>
        <p:spPr>
          <a:xfrm>
            <a:off x="990600" y="5905943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65% em custos operacionais</a:t>
            </a:r>
            <a:endParaRPr lang="en-US" sz="1150" dirty="0"/>
          </a:p>
        </p:txBody>
      </p:sp>
      <p:sp>
        <p:nvSpPr>
          <p:cNvPr id="47" name="Shape 8">
            <a:extLst>
              <a:ext uri="{FF2B5EF4-FFF2-40B4-BE49-F238E27FC236}">
                <a16:creationId xmlns:a16="http://schemas.microsoft.com/office/drawing/2014/main" id="{FDE6DDA9-9579-4ABC-9367-A43BE340DF04}"/>
              </a:ext>
            </a:extLst>
          </p:cNvPr>
          <p:cNvSpPr/>
          <p:nvPr/>
        </p:nvSpPr>
        <p:spPr>
          <a:xfrm>
            <a:off x="3550920" y="5690788"/>
            <a:ext cx="2423160" cy="946675"/>
          </a:xfrm>
          <a:prstGeom prst="roundRect">
            <a:avLst>
              <a:gd name="adj" fmla="val 6667"/>
            </a:avLst>
          </a:prstGeom>
          <a:solidFill>
            <a:srgbClr val="14422B"/>
          </a:solidFill>
          <a:ln w="12700">
            <a:solidFill>
              <a:srgbClr val="1E5E3C"/>
            </a:solidFill>
            <a:prstDash val="solid"/>
          </a:ln>
        </p:spPr>
      </p:sp>
      <p:sp>
        <p:nvSpPr>
          <p:cNvPr id="48" name="Text 9">
            <a:extLst>
              <a:ext uri="{FF2B5EF4-FFF2-40B4-BE49-F238E27FC236}">
                <a16:creationId xmlns:a16="http://schemas.microsoft.com/office/drawing/2014/main" id="{94385756-24CE-4078-98F4-43AABABA3C98}"/>
              </a:ext>
            </a:extLst>
          </p:cNvPr>
          <p:cNvSpPr/>
          <p:nvPr/>
        </p:nvSpPr>
        <p:spPr>
          <a:xfrm>
            <a:off x="3688080" y="5827948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COTA CAPITAL</a:t>
            </a:r>
            <a:endParaRPr lang="en-US" sz="800" dirty="0"/>
          </a:p>
        </p:txBody>
      </p:sp>
      <p:sp>
        <p:nvSpPr>
          <p:cNvPr id="49" name="Text 10">
            <a:extLst>
              <a:ext uri="{FF2B5EF4-FFF2-40B4-BE49-F238E27FC236}">
                <a16:creationId xmlns:a16="http://schemas.microsoft.com/office/drawing/2014/main" id="{5981DBC7-0949-4C0D-9EE5-511EA1041BA9}"/>
              </a:ext>
            </a:extLst>
          </p:cNvPr>
          <p:cNvSpPr/>
          <p:nvPr/>
        </p:nvSpPr>
        <p:spPr>
          <a:xfrm>
            <a:off x="3688080" y="5905943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Transparência total do patrimônio</a:t>
            </a:r>
            <a:endParaRPr lang="en-US" sz="1150" dirty="0"/>
          </a:p>
        </p:txBody>
      </p:sp>
      <p:sp>
        <p:nvSpPr>
          <p:cNvPr id="50" name="Shape 11">
            <a:extLst>
              <a:ext uri="{FF2B5EF4-FFF2-40B4-BE49-F238E27FC236}">
                <a16:creationId xmlns:a16="http://schemas.microsoft.com/office/drawing/2014/main" id="{6C79668F-D686-416E-849A-17737D4FEAF6}"/>
              </a:ext>
            </a:extLst>
          </p:cNvPr>
          <p:cNvSpPr/>
          <p:nvPr/>
        </p:nvSpPr>
        <p:spPr>
          <a:xfrm>
            <a:off x="6248400" y="5690788"/>
            <a:ext cx="2423160" cy="946675"/>
          </a:xfrm>
          <a:prstGeom prst="roundRect">
            <a:avLst>
              <a:gd name="adj" fmla="val 6667"/>
            </a:avLst>
          </a:prstGeom>
          <a:solidFill>
            <a:srgbClr val="14422B"/>
          </a:solidFill>
          <a:ln w="12700">
            <a:solidFill>
              <a:srgbClr val="1E5E3C"/>
            </a:solidFill>
            <a:prstDash val="solid"/>
          </a:ln>
        </p:spPr>
      </p:sp>
      <p:sp>
        <p:nvSpPr>
          <p:cNvPr id="51" name="Text 12">
            <a:extLst>
              <a:ext uri="{FF2B5EF4-FFF2-40B4-BE49-F238E27FC236}">
                <a16:creationId xmlns:a16="http://schemas.microsoft.com/office/drawing/2014/main" id="{C462A642-AE97-45F0-B73F-5819A84EEF45}"/>
              </a:ext>
            </a:extLst>
          </p:cNvPr>
          <p:cNvSpPr/>
          <p:nvPr/>
        </p:nvSpPr>
        <p:spPr>
          <a:xfrm>
            <a:off x="6385560" y="5827948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BLINDAGEM</a:t>
            </a:r>
            <a:endParaRPr lang="en-US" sz="800" dirty="0"/>
          </a:p>
        </p:txBody>
      </p:sp>
      <p:sp>
        <p:nvSpPr>
          <p:cNvPr id="52" name="Text 13">
            <a:extLst>
              <a:ext uri="{FF2B5EF4-FFF2-40B4-BE49-F238E27FC236}">
                <a16:creationId xmlns:a16="http://schemas.microsoft.com/office/drawing/2014/main" id="{FD5DB1A5-4A2E-4D7D-A961-0661834C6681}"/>
              </a:ext>
            </a:extLst>
          </p:cNvPr>
          <p:cNvSpPr/>
          <p:nvPr/>
        </p:nvSpPr>
        <p:spPr>
          <a:xfrm>
            <a:off x="6385560" y="5905943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Fim da inadimplência silenciosa</a:t>
            </a:r>
            <a:endParaRPr lang="en-US" sz="1150" dirty="0"/>
          </a:p>
        </p:txBody>
      </p:sp>
      <p:sp>
        <p:nvSpPr>
          <p:cNvPr id="53" name="Shape 14">
            <a:extLst>
              <a:ext uri="{FF2B5EF4-FFF2-40B4-BE49-F238E27FC236}">
                <a16:creationId xmlns:a16="http://schemas.microsoft.com/office/drawing/2014/main" id="{06900893-C022-497E-A984-B0C7DA558CE0}"/>
              </a:ext>
            </a:extLst>
          </p:cNvPr>
          <p:cNvSpPr/>
          <p:nvPr/>
        </p:nvSpPr>
        <p:spPr>
          <a:xfrm>
            <a:off x="8945880" y="5690788"/>
            <a:ext cx="2423160" cy="946675"/>
          </a:xfrm>
          <a:prstGeom prst="roundRect">
            <a:avLst>
              <a:gd name="adj" fmla="val 6667"/>
            </a:avLst>
          </a:prstGeom>
          <a:solidFill>
            <a:srgbClr val="14422B"/>
          </a:solidFill>
          <a:ln w="12700">
            <a:solidFill>
              <a:srgbClr val="1E5E3C"/>
            </a:solidFill>
            <a:prstDash val="solid"/>
          </a:ln>
        </p:spPr>
      </p:sp>
      <p:sp>
        <p:nvSpPr>
          <p:cNvPr id="54" name="Text 15">
            <a:extLst>
              <a:ext uri="{FF2B5EF4-FFF2-40B4-BE49-F238E27FC236}">
                <a16:creationId xmlns:a16="http://schemas.microsoft.com/office/drawing/2014/main" id="{A1D0BB3D-1DBE-4A77-9E35-82805F062E70}"/>
              </a:ext>
            </a:extLst>
          </p:cNvPr>
          <p:cNvSpPr/>
          <p:nvPr/>
        </p:nvSpPr>
        <p:spPr>
          <a:xfrm>
            <a:off x="9083040" y="5827948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</a:t>
            </a:r>
            <a:endParaRPr lang="en-US" sz="800" dirty="0"/>
          </a:p>
        </p:txBody>
      </p:sp>
      <p:sp>
        <p:nvSpPr>
          <p:cNvPr id="55" name="Text 16">
            <a:extLst>
              <a:ext uri="{FF2B5EF4-FFF2-40B4-BE49-F238E27FC236}">
                <a16:creationId xmlns:a16="http://schemas.microsoft.com/office/drawing/2014/main" id="{B772DDF6-109D-4E6E-8CAA-1FB4D1FB5877}"/>
              </a:ext>
            </a:extLst>
          </p:cNvPr>
          <p:cNvSpPr/>
          <p:nvPr/>
        </p:nvSpPr>
        <p:spPr>
          <a:xfrm>
            <a:off x="9083040" y="5905943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Isolamento multi-tenant e LGPD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ARQUITETURA INTEGRADA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6858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Sistema Único, Quatro Experiências Dedicadas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público da cooperativa tem um portal exclusivo adaptado à sua rotina operacional.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22960" y="1508760"/>
            <a:ext cx="10515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737360"/>
            <a:ext cx="2423160" cy="425196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25400">
            <a:solidFill>
              <a:srgbClr val="16653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1874520"/>
            <a:ext cx="2148840" cy="27432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87452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DIRETORIA &amp; GESTÃO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960120" y="224028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Painel Administrativo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2788920"/>
            <a:ext cx="2148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Fluxo de caixa e saldo em tempo real;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60120" y="3520440"/>
            <a:ext cx="2148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Gestão de Cota Capital e Associados;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960120" y="4251960"/>
            <a:ext cx="2148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Auditoria de guias e faturamento;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960120" y="4983480"/>
            <a:ext cx="2148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Relatórios em Excel com 1 clique.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520440" y="1737360"/>
            <a:ext cx="2423160" cy="425196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0" y="1874520"/>
            <a:ext cx="2148840" cy="27432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0" y="187452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COOPERADOS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657600" y="224028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 do Associado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0" y="2788920"/>
            <a:ext cx="2148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Card Meu Patrimônio (Cotas integralizadas);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657600" y="3520440"/>
            <a:ext cx="2148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Extrato financeiro com chave PIX e QR Code;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657600" y="4251960"/>
            <a:ext cx="2148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Consulta à rede credenciada e convênios;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657600" y="4983480"/>
            <a:ext cx="2148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Solicitação de reembolsos médicos e upload.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217920" y="1737360"/>
            <a:ext cx="2423160" cy="425196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55080" y="1874520"/>
            <a:ext cx="2148840" cy="274320"/>
          </a:xfrm>
          <a:prstGeom prst="rect">
            <a:avLst/>
          </a:prstGeom>
          <a:solidFill>
            <a:srgbClr val="F3E8FF"/>
          </a:solidFill>
          <a:ln/>
        </p:spPr>
      </p:sp>
      <p:sp>
        <p:nvSpPr>
          <p:cNvPr id="24" name="Text 22"/>
          <p:cNvSpPr/>
          <p:nvPr/>
        </p:nvSpPr>
        <p:spPr>
          <a:xfrm>
            <a:off x="6355080" y="187452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DEPENDENTES &amp; FAMÍLIA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6355080" y="224028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 do Dependente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55080" y="2788920"/>
            <a:ext cx="2148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Acesso via Link Mágico + 5 dígitos do CPF;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355080" y="3520440"/>
            <a:ext cx="2148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Zero atrito: sem necessidade de decorar senha;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355080" y="4251960"/>
            <a:ext cx="2148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Carteirinha digital virtual própria;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355080" y="4983480"/>
            <a:ext cx="2148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Blindagem: não visualiza finanças do titular.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915400" y="1737360"/>
            <a:ext cx="2423160" cy="425196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052560" y="1874520"/>
            <a:ext cx="2148840" cy="27432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32" name="Text 30"/>
          <p:cNvSpPr/>
          <p:nvPr/>
        </p:nvSpPr>
        <p:spPr>
          <a:xfrm>
            <a:off x="9052560" y="187452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MÉDICOS &amp; CLÍNICAS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9052560" y="224028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 do Prestador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052560" y="2788920"/>
            <a:ext cx="2148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Fluxo invertido: busca cooperado por CPF/Nome;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9052560" y="3520440"/>
            <a:ext cx="2148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Checagem instantânea de adimplência;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9052560" y="4251960"/>
            <a:ext cx="2148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Abertura digital de autorização médica;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9052560" y="4983480"/>
            <a:ext cx="2148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Envio de faturas e NF-e até o dia 05.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82296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Siscoop3F • Sistema Integrado de Gestão Cooperativa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9509760" y="6309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3 de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2001" y="952501"/>
            <a:ext cx="3943515" cy="4136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ct val="96000"/>
              </a:lnSpc>
            </a:pPr>
            <a:r>
              <a:rPr lang="en-US" sz="2800" b="1" dirty="0">
                <a:solidFill>
                  <a:srgbClr val="0D3B43"/>
                </a:solidFill>
                <a:latin typeface="Manrope ExtraBold" pitchFamily="34" charset="0"/>
                <a:ea typeface="Manrope ExtraBold" pitchFamily="34" charset="-122"/>
                <a:cs typeface="Manrope ExtraBold" pitchFamily="34" charset="-120"/>
              </a:rPr>
              <a:t>Entrada segura, perfil 360°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1238251" y="2051671"/>
            <a:ext cx="9715500" cy="19051"/>
          </a:xfrm>
          <a:prstGeom prst="rect">
            <a:avLst/>
          </a:prstGeom>
          <a:solidFill>
            <a:srgbClr val="D1DCE0"/>
          </a:solidFill>
          <a:ln/>
        </p:spPr>
      </p:sp>
      <p:sp>
        <p:nvSpPr>
          <p:cNvPr id="5" name="Shape 2"/>
          <p:cNvSpPr/>
          <p:nvPr/>
        </p:nvSpPr>
        <p:spPr>
          <a:xfrm>
            <a:off x="1476375" y="1813545"/>
            <a:ext cx="476251" cy="476251"/>
          </a:xfrm>
          <a:prstGeom prst="ellipse">
            <a:avLst/>
          </a:prstGeom>
          <a:solidFill>
            <a:srgbClr val="0D3B43"/>
          </a:solidFill>
          <a:ln w="27432">
            <a:solidFill>
              <a:srgbClr val="FFFF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611908" y="1949110"/>
            <a:ext cx="205184" cy="20512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01</a:t>
            </a:r>
            <a:endParaRPr lang="en-US" sz="1333" dirty="0"/>
          </a:p>
        </p:txBody>
      </p:sp>
      <p:sp>
        <p:nvSpPr>
          <p:cNvPr id="7" name="Text 4"/>
          <p:cNvSpPr/>
          <p:nvPr/>
        </p:nvSpPr>
        <p:spPr>
          <a:xfrm>
            <a:off x="1089138" y="2442195"/>
            <a:ext cx="1250727" cy="2257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en-US" sz="1467" b="1" dirty="0">
                <a:solidFill>
                  <a:srgbClr val="0D3B43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Cadastro Online</a:t>
            </a:r>
            <a:endParaRPr lang="en-US" sz="1467" dirty="0"/>
          </a:p>
        </p:txBody>
      </p:sp>
      <p:sp>
        <p:nvSpPr>
          <p:cNvPr id="8" name="Text 5"/>
          <p:cNvSpPr/>
          <p:nvPr/>
        </p:nvSpPr>
        <p:spPr>
          <a:xfrm>
            <a:off x="762000" y="2727946"/>
            <a:ext cx="1905000" cy="743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lang="en-US" sz="1467" dirty="0">
                <a:solidFill>
                  <a:srgbClr val="4A5C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Validação rigorosa de CPF e bloqueio de duplicidades (LGPD).</a:t>
            </a:r>
            <a:endParaRPr lang="en-US" sz="1467" dirty="0"/>
          </a:p>
        </p:txBody>
      </p:sp>
      <p:sp>
        <p:nvSpPr>
          <p:cNvPr id="9" name="Shape 6"/>
          <p:cNvSpPr/>
          <p:nvPr/>
        </p:nvSpPr>
        <p:spPr>
          <a:xfrm>
            <a:off x="4397351" y="1813545"/>
            <a:ext cx="476251" cy="476251"/>
          </a:xfrm>
          <a:prstGeom prst="ellipse">
            <a:avLst/>
          </a:prstGeom>
          <a:solidFill>
            <a:srgbClr val="0D3B43"/>
          </a:solidFill>
          <a:ln w="27432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32884" y="1949110"/>
            <a:ext cx="205184" cy="20512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02</a:t>
            </a:r>
            <a:endParaRPr lang="en-US" sz="1333" dirty="0"/>
          </a:p>
        </p:txBody>
      </p:sp>
      <p:sp>
        <p:nvSpPr>
          <p:cNvPr id="11" name="Text 8"/>
          <p:cNvSpPr/>
          <p:nvPr/>
        </p:nvSpPr>
        <p:spPr>
          <a:xfrm>
            <a:off x="4102157" y="2442195"/>
            <a:ext cx="1066639" cy="2257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en-US" sz="1467" b="1" dirty="0">
                <a:solidFill>
                  <a:srgbClr val="0D3B43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Cota &amp; Folha</a:t>
            </a:r>
            <a:endParaRPr lang="en-US" sz="1467" dirty="0"/>
          </a:p>
        </p:txBody>
      </p:sp>
      <p:sp>
        <p:nvSpPr>
          <p:cNvPr id="12" name="Text 9"/>
          <p:cNvSpPr/>
          <p:nvPr/>
        </p:nvSpPr>
        <p:spPr>
          <a:xfrm>
            <a:off x="3682975" y="2727946"/>
            <a:ext cx="1905000" cy="743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lang="en-US" sz="1467" dirty="0">
                <a:solidFill>
                  <a:srgbClr val="4A5C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Subscrição inicial e aceite de desconto formalizado no fluxo.</a:t>
            </a:r>
            <a:endParaRPr lang="en-US" sz="1467" dirty="0"/>
          </a:p>
        </p:txBody>
      </p:sp>
      <p:sp>
        <p:nvSpPr>
          <p:cNvPr id="13" name="Shape 10"/>
          <p:cNvSpPr/>
          <p:nvPr/>
        </p:nvSpPr>
        <p:spPr>
          <a:xfrm>
            <a:off x="7318325" y="1813545"/>
            <a:ext cx="476251" cy="476251"/>
          </a:xfrm>
          <a:prstGeom prst="ellipse">
            <a:avLst/>
          </a:prstGeom>
          <a:solidFill>
            <a:srgbClr val="0D3B43"/>
          </a:solidFill>
          <a:ln w="27432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453858" y="1949110"/>
            <a:ext cx="205184" cy="20512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03</a:t>
            </a:r>
            <a:endParaRPr lang="en-US" sz="1333" dirty="0"/>
          </a:p>
        </p:txBody>
      </p:sp>
      <p:sp>
        <p:nvSpPr>
          <p:cNvPr id="15" name="Text 12"/>
          <p:cNvSpPr/>
          <p:nvPr/>
        </p:nvSpPr>
        <p:spPr>
          <a:xfrm>
            <a:off x="6917783" y="2442195"/>
            <a:ext cx="1277336" cy="2257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en-US" sz="1467" b="1" dirty="0">
                <a:solidFill>
                  <a:srgbClr val="0D3B43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Auditoria Adm.</a:t>
            </a:r>
            <a:endParaRPr lang="en-US" sz="1467" dirty="0"/>
          </a:p>
        </p:txBody>
      </p:sp>
      <p:sp>
        <p:nvSpPr>
          <p:cNvPr id="16" name="Text 13"/>
          <p:cNvSpPr/>
          <p:nvPr/>
        </p:nvSpPr>
        <p:spPr>
          <a:xfrm>
            <a:off x="6603951" y="2727946"/>
            <a:ext cx="1905000" cy="998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lang="en-US" sz="1467" dirty="0">
                <a:solidFill>
                  <a:srgbClr val="4A5C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Snapshot financeiro detalhado para aprovação da secretaria.</a:t>
            </a:r>
            <a:endParaRPr lang="en-US" sz="1467" dirty="0"/>
          </a:p>
        </p:txBody>
      </p:sp>
      <p:sp>
        <p:nvSpPr>
          <p:cNvPr id="17" name="Shape 14"/>
          <p:cNvSpPr/>
          <p:nvPr/>
        </p:nvSpPr>
        <p:spPr>
          <a:xfrm>
            <a:off x="10239300" y="1813545"/>
            <a:ext cx="476251" cy="476251"/>
          </a:xfrm>
          <a:prstGeom prst="ellipse">
            <a:avLst/>
          </a:prstGeom>
          <a:solidFill>
            <a:srgbClr val="0D3B43"/>
          </a:solidFill>
          <a:ln w="27432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374833" y="1949110"/>
            <a:ext cx="205184" cy="20512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04</a:t>
            </a:r>
            <a:endParaRPr lang="en-US" sz="1333" dirty="0"/>
          </a:p>
        </p:txBody>
      </p:sp>
      <p:sp>
        <p:nvSpPr>
          <p:cNvPr id="19" name="Text 16"/>
          <p:cNvSpPr/>
          <p:nvPr/>
        </p:nvSpPr>
        <p:spPr>
          <a:xfrm>
            <a:off x="9814906" y="2442195"/>
            <a:ext cx="1325042" cy="2257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en-US" sz="1467" b="1" dirty="0">
                <a:solidFill>
                  <a:srgbClr val="0D3B43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Liberação Auto.</a:t>
            </a:r>
            <a:endParaRPr lang="en-US" sz="1467" dirty="0"/>
          </a:p>
        </p:txBody>
      </p:sp>
      <p:sp>
        <p:nvSpPr>
          <p:cNvPr id="20" name="Text 17"/>
          <p:cNvSpPr/>
          <p:nvPr/>
        </p:nvSpPr>
        <p:spPr>
          <a:xfrm>
            <a:off x="9524925" y="2727946"/>
            <a:ext cx="1905000" cy="743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lang="en-US" sz="1467" dirty="0">
                <a:solidFill>
                  <a:srgbClr val="4A5C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Geração de usuário, senha e títulos financeiros imediatos.</a:t>
            </a:r>
            <a:endParaRPr lang="en-US" sz="1467" dirty="0"/>
          </a:p>
        </p:txBody>
      </p:sp>
      <p:sp>
        <p:nvSpPr>
          <p:cNvPr id="21" name="Shape 18"/>
          <p:cNvSpPr/>
          <p:nvPr/>
        </p:nvSpPr>
        <p:spPr>
          <a:xfrm>
            <a:off x="762000" y="3819377"/>
            <a:ext cx="10668000" cy="2531567"/>
          </a:xfrm>
          <a:prstGeom prst="rect">
            <a:avLst/>
          </a:prstGeom>
          <a:solidFill>
            <a:srgbClr val="F0F4F5"/>
          </a:solidFill>
          <a:ln/>
        </p:spPr>
      </p:sp>
      <p:sp>
        <p:nvSpPr>
          <p:cNvPr id="22" name="Shape 19"/>
          <p:cNvSpPr/>
          <p:nvPr/>
        </p:nvSpPr>
        <p:spPr>
          <a:xfrm>
            <a:off x="762000" y="3819377"/>
            <a:ext cx="10668000" cy="38100"/>
          </a:xfrm>
          <a:prstGeom prst="rect">
            <a:avLst/>
          </a:prstGeom>
          <a:solidFill>
            <a:srgbClr val="00875A"/>
          </a:solidFill>
          <a:ln/>
        </p:spPr>
      </p:sp>
      <p:sp>
        <p:nvSpPr>
          <p:cNvPr id="23" name="Text 20"/>
          <p:cNvSpPr/>
          <p:nvPr/>
        </p:nvSpPr>
        <p:spPr>
          <a:xfrm>
            <a:off x="1066800" y="4124176"/>
            <a:ext cx="2738437" cy="225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467" b="1" dirty="0">
                <a:solidFill>
                  <a:srgbClr val="0D3B43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O Perfil 360° do Cooperado</a:t>
            </a:r>
            <a:endParaRPr lang="en-US" sz="1467" dirty="0"/>
          </a:p>
        </p:txBody>
      </p:sp>
      <p:sp>
        <p:nvSpPr>
          <p:cNvPr id="24" name="Text 21"/>
          <p:cNvSpPr/>
          <p:nvPr/>
        </p:nvSpPr>
        <p:spPr>
          <a:xfrm>
            <a:off x="6191674" y="4138464"/>
            <a:ext cx="1145122" cy="296770"/>
          </a:xfrm>
          <a:prstGeom prst="rect">
            <a:avLst/>
          </a:prstGeom>
          <a:noFill/>
          <a:ln/>
        </p:spPr>
        <p:txBody>
          <a:bodyPr wrap="none" lIns="0" tIns="0" rIns="0" bIns="90763" rtlCol="0" anchor="t">
            <a:spAutoFit/>
          </a:bodyPr>
          <a:lstStyle/>
          <a:p>
            <a:r>
              <a:rPr lang="en-US" sz="1333" b="1" dirty="0">
                <a:solidFill>
                  <a:srgbClr val="00875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Atendimentos</a:t>
            </a:r>
            <a:endParaRPr lang="en-US" sz="1333" dirty="0"/>
          </a:p>
        </p:txBody>
      </p:sp>
      <p:sp>
        <p:nvSpPr>
          <p:cNvPr id="25" name="Text 22"/>
          <p:cNvSpPr/>
          <p:nvPr/>
        </p:nvSpPr>
        <p:spPr>
          <a:xfrm>
            <a:off x="7518825" y="4138464"/>
            <a:ext cx="842667" cy="296770"/>
          </a:xfrm>
          <a:prstGeom prst="rect">
            <a:avLst/>
          </a:prstGeom>
          <a:noFill/>
          <a:ln/>
        </p:spPr>
        <p:txBody>
          <a:bodyPr wrap="none" lIns="0" tIns="0" rIns="0" bIns="90763" rtlCol="0" anchor="t">
            <a:spAutoFit/>
          </a:bodyPr>
          <a:lstStyle/>
          <a:p>
            <a:r>
              <a:rPr lang="en-US" sz="1333" b="1" dirty="0">
                <a:solidFill>
                  <a:srgbClr val="4A5C6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Financeiro</a:t>
            </a:r>
            <a:endParaRPr lang="en-US" sz="1333" dirty="0"/>
          </a:p>
        </p:txBody>
      </p:sp>
      <p:sp>
        <p:nvSpPr>
          <p:cNvPr id="26" name="Text 23"/>
          <p:cNvSpPr/>
          <p:nvPr/>
        </p:nvSpPr>
        <p:spPr>
          <a:xfrm>
            <a:off x="8481907" y="4138464"/>
            <a:ext cx="1057469" cy="296770"/>
          </a:xfrm>
          <a:prstGeom prst="rect">
            <a:avLst/>
          </a:prstGeom>
          <a:noFill/>
          <a:ln/>
        </p:spPr>
        <p:txBody>
          <a:bodyPr wrap="none" lIns="0" tIns="0" rIns="0" bIns="90763" rtlCol="0" anchor="t">
            <a:spAutoFit/>
          </a:bodyPr>
          <a:lstStyle/>
          <a:p>
            <a:r>
              <a:rPr lang="en-US" sz="1333" b="1" dirty="0">
                <a:solidFill>
                  <a:srgbClr val="4A5C6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Dependentes</a:t>
            </a:r>
            <a:endParaRPr lang="en-US" sz="1333" dirty="0"/>
          </a:p>
        </p:txBody>
      </p:sp>
      <p:sp>
        <p:nvSpPr>
          <p:cNvPr id="27" name="Text 24"/>
          <p:cNvSpPr/>
          <p:nvPr/>
        </p:nvSpPr>
        <p:spPr>
          <a:xfrm>
            <a:off x="9714759" y="4138464"/>
            <a:ext cx="1017843" cy="296770"/>
          </a:xfrm>
          <a:prstGeom prst="rect">
            <a:avLst/>
          </a:prstGeom>
          <a:noFill/>
          <a:ln/>
        </p:spPr>
        <p:txBody>
          <a:bodyPr wrap="none" lIns="0" tIns="0" rIns="0" bIns="90763" rtlCol="0" anchor="t">
            <a:spAutoFit/>
          </a:bodyPr>
          <a:lstStyle/>
          <a:p>
            <a:r>
              <a:rPr lang="en-US" sz="1333" b="1" dirty="0">
                <a:solidFill>
                  <a:srgbClr val="4A5C6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Documentos</a:t>
            </a:r>
            <a:endParaRPr lang="en-US" sz="1333" dirty="0"/>
          </a:p>
        </p:txBody>
      </p:sp>
      <p:sp>
        <p:nvSpPr>
          <p:cNvPr id="28" name="Text 25"/>
          <p:cNvSpPr/>
          <p:nvPr/>
        </p:nvSpPr>
        <p:spPr>
          <a:xfrm>
            <a:off x="930323" y="4608045"/>
            <a:ext cx="134652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rPr lang="en-US" sz="1400" b="1" dirty="0">
                <a:solidFill>
                  <a:srgbClr val="00875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✓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1211311" y="4608045"/>
            <a:ext cx="4633912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400" b="1" dirty="0">
                <a:solidFill>
                  <a:srgbClr val="0D3B4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Histórico de Saúde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1211311" y="4817596"/>
            <a:ext cx="4633912" cy="469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2000"/>
              </a:lnSpc>
            </a:pPr>
            <a:r>
              <a:rPr lang="en-US" sz="1400" dirty="0">
                <a:solidFill>
                  <a:srgbClr val="4A5C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Controle total de procedimentos realizados pelo titular e dependentes na rede.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6073823" y="4608045"/>
            <a:ext cx="134652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rPr lang="en-US" sz="1400" b="1" dirty="0">
                <a:solidFill>
                  <a:srgbClr val="00875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✓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6354812" y="4608045"/>
            <a:ext cx="4452937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400" b="1" dirty="0">
                <a:solidFill>
                  <a:srgbClr val="0D3B4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Gestão Financeira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6354812" y="4817596"/>
            <a:ext cx="4990523" cy="469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2000"/>
              </a:lnSpc>
            </a:pPr>
            <a:r>
              <a:rPr lang="en-US" sz="1400" dirty="0">
                <a:solidFill>
                  <a:srgbClr val="4A5C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Demonstrativo de mensalidades, cotas pagas e emissão de 2ª via PIX.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930323" y="5419457"/>
            <a:ext cx="134652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rPr lang="en-US" sz="1400" b="1" dirty="0">
                <a:solidFill>
                  <a:srgbClr val="00875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✓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1211311" y="5419457"/>
            <a:ext cx="4338637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400" b="1" dirty="0">
                <a:solidFill>
                  <a:srgbClr val="0D3B4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Núcleo Familiar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1211312" y="5629007"/>
            <a:ext cx="4716177" cy="469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2000"/>
              </a:lnSpc>
            </a:pPr>
            <a:r>
              <a:rPr lang="en-US" sz="1400" dirty="0">
                <a:solidFill>
                  <a:srgbClr val="4A5C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Gestão de dependentes, edição de dados e geração de Link Mágico.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6073823" y="5419457"/>
            <a:ext cx="134652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rPr lang="en-US" sz="1400" b="1" dirty="0">
                <a:solidFill>
                  <a:srgbClr val="00875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✓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6354811" y="5419457"/>
            <a:ext cx="4533900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400" b="1" dirty="0">
                <a:solidFill>
                  <a:srgbClr val="0D3B4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Repositório Digital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6354812" y="5629007"/>
            <a:ext cx="4787328" cy="469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2000"/>
              </a:lnSpc>
            </a:pPr>
            <a:r>
              <a:rPr lang="en-US" sz="1400" dirty="0">
                <a:solidFill>
                  <a:srgbClr val="4A5C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Upload e conferência de documentos com aprovação/recusa auditável.</a:t>
            </a:r>
            <a:endParaRPr lang="en-US" sz="1400" dirty="0"/>
          </a:p>
        </p:txBody>
      </p:sp>
      <p:sp>
        <p:nvSpPr>
          <p:cNvPr id="40" name="Text 37"/>
          <p:cNvSpPr/>
          <p:nvPr/>
        </p:nvSpPr>
        <p:spPr>
          <a:xfrm>
            <a:off x="762001" y="6475404"/>
            <a:ext cx="3467100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000" dirty="0">
                <a:solidFill>
                  <a:srgbClr val="4A5C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Siscoop3F • Sistema Integrado de Gestão Cooperativa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10634663" y="6459147"/>
            <a:ext cx="727763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rPr lang="en-US" sz="1000" dirty="0">
                <a:solidFill>
                  <a:srgbClr val="4A5C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5 de 12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2001" y="952501"/>
            <a:ext cx="5858591" cy="4136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ct val="96000"/>
              </a:lnSpc>
            </a:pPr>
            <a:r>
              <a:rPr lang="en-US" sz="2800" b="1" dirty="0">
                <a:solidFill>
                  <a:srgbClr val="0D3B43"/>
                </a:solidFill>
                <a:latin typeface="Manrope ExtraBold" pitchFamily="34" charset="0"/>
                <a:ea typeface="Manrope ExtraBold" pitchFamily="34" charset="-122"/>
                <a:cs typeface="Manrope ExtraBold" pitchFamily="34" charset="-120"/>
              </a:rPr>
              <a:t>A trava que protege a rede credenciada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762000" y="1813545"/>
            <a:ext cx="2524125" cy="1655267"/>
          </a:xfrm>
          <a:prstGeom prst="rect">
            <a:avLst/>
          </a:prstGeom>
          <a:solidFill>
            <a:srgbClr val="F0F4F5"/>
          </a:solidFill>
          <a:ln/>
        </p:spPr>
      </p:sp>
      <p:sp>
        <p:nvSpPr>
          <p:cNvPr id="5" name="Shape 2"/>
          <p:cNvSpPr/>
          <p:nvPr/>
        </p:nvSpPr>
        <p:spPr>
          <a:xfrm>
            <a:off x="762000" y="3430713"/>
            <a:ext cx="2524125" cy="38100"/>
          </a:xfrm>
          <a:prstGeom prst="rect">
            <a:avLst/>
          </a:prstGeom>
          <a:solidFill>
            <a:srgbClr val="D1DCE0"/>
          </a:solidFill>
          <a:ln/>
        </p:spPr>
      </p:sp>
      <p:sp>
        <p:nvSpPr>
          <p:cNvPr id="6" name="Text 3"/>
          <p:cNvSpPr/>
          <p:nvPr/>
        </p:nvSpPr>
        <p:spPr>
          <a:xfrm>
            <a:off x="990600" y="2042146"/>
            <a:ext cx="2066925" cy="2051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333" b="1" dirty="0">
                <a:solidFill>
                  <a:srgbClr val="1A2527">
                    <a:alpha val="70000"/>
                  </a:srgbClr>
                </a:solidFill>
                <a:ea typeface="Inter Bold" pitchFamily="34" charset="-122"/>
                <a:cs typeface="Inter Bold" pitchFamily="34" charset="-120"/>
              </a:rPr>
              <a:t>PASSO 1</a:t>
            </a:r>
            <a:endParaRPr lang="en-US" sz="1333" dirty="0"/>
          </a:p>
        </p:txBody>
      </p:sp>
      <p:sp>
        <p:nvSpPr>
          <p:cNvPr id="7" name="Text 4"/>
          <p:cNvSpPr/>
          <p:nvPr/>
        </p:nvSpPr>
        <p:spPr>
          <a:xfrm>
            <a:off x="990600" y="2294558"/>
            <a:ext cx="2066925" cy="2051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333" b="1" dirty="0">
                <a:solidFill>
                  <a:srgbClr val="1A2527"/>
                </a:solidFill>
                <a:ea typeface="Manrope Bold" pitchFamily="34" charset="-122"/>
                <a:cs typeface="Manrope Bold" pitchFamily="34" charset="-120"/>
              </a:rPr>
              <a:t>Busca do Paciente</a:t>
            </a:r>
            <a:endParaRPr lang="en-US" sz="1333" dirty="0"/>
          </a:p>
        </p:txBody>
      </p:sp>
      <p:sp>
        <p:nvSpPr>
          <p:cNvPr id="8" name="Text 5"/>
          <p:cNvSpPr/>
          <p:nvPr/>
        </p:nvSpPr>
        <p:spPr>
          <a:xfrm>
            <a:off x="990600" y="2642220"/>
            <a:ext cx="2066925" cy="4472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2000"/>
              </a:lnSpc>
            </a:pPr>
            <a:r>
              <a:rPr lang="en-US" sz="1333" dirty="0">
                <a:solidFill>
                  <a:srgbClr val="1A2527"/>
                </a:solidFill>
                <a:ea typeface="Inter" pitchFamily="34" charset="-122"/>
                <a:cs typeface="Inter" pitchFamily="34" charset="-120"/>
              </a:rPr>
              <a:t>O prestador digita Nome ou CPF no portal credenciado.</a:t>
            </a:r>
            <a:endParaRPr lang="en-US" sz="1333" dirty="0"/>
          </a:p>
        </p:txBody>
      </p:sp>
      <p:sp>
        <p:nvSpPr>
          <p:cNvPr id="9" name="Shape 6"/>
          <p:cNvSpPr/>
          <p:nvPr/>
        </p:nvSpPr>
        <p:spPr>
          <a:xfrm>
            <a:off x="3476626" y="1813545"/>
            <a:ext cx="2524125" cy="1655267"/>
          </a:xfrm>
          <a:prstGeom prst="rect">
            <a:avLst/>
          </a:prstGeom>
          <a:solidFill>
            <a:srgbClr val="0D3B43"/>
          </a:solidFill>
          <a:ln/>
        </p:spPr>
      </p:sp>
      <p:sp>
        <p:nvSpPr>
          <p:cNvPr id="10" name="Shape 7"/>
          <p:cNvSpPr/>
          <p:nvPr/>
        </p:nvSpPr>
        <p:spPr>
          <a:xfrm>
            <a:off x="3476626" y="3430713"/>
            <a:ext cx="2524125" cy="38100"/>
          </a:xfrm>
          <a:prstGeom prst="rect">
            <a:avLst/>
          </a:prstGeom>
          <a:solidFill>
            <a:srgbClr val="00875A"/>
          </a:solidFill>
          <a:ln/>
        </p:spPr>
      </p:sp>
      <p:sp>
        <p:nvSpPr>
          <p:cNvPr id="11" name="Text 8"/>
          <p:cNvSpPr/>
          <p:nvPr/>
        </p:nvSpPr>
        <p:spPr>
          <a:xfrm>
            <a:off x="3705226" y="2042146"/>
            <a:ext cx="2066925" cy="2051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333" b="1" dirty="0">
                <a:solidFill>
                  <a:srgbClr val="FFFFFF">
                    <a:alpha val="70000"/>
                  </a:srgbClr>
                </a:solidFill>
                <a:ea typeface="Inter Bold" pitchFamily="34" charset="-122"/>
                <a:cs typeface="Inter Bold" pitchFamily="34" charset="-120"/>
              </a:rPr>
              <a:t>PASSO 2</a:t>
            </a:r>
            <a:endParaRPr lang="en-US" sz="1333" dirty="0"/>
          </a:p>
        </p:txBody>
      </p:sp>
      <p:sp>
        <p:nvSpPr>
          <p:cNvPr id="12" name="Text 9"/>
          <p:cNvSpPr/>
          <p:nvPr/>
        </p:nvSpPr>
        <p:spPr>
          <a:xfrm>
            <a:off x="3705226" y="2294558"/>
            <a:ext cx="2066925" cy="2051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333" b="1" dirty="0">
                <a:solidFill>
                  <a:srgbClr val="FFFFFF"/>
                </a:solidFill>
                <a:ea typeface="Manrope Bold" pitchFamily="34" charset="-122"/>
                <a:cs typeface="Manrope Bold" pitchFamily="34" charset="-120"/>
              </a:rPr>
              <a:t>Trava de Adimplência</a:t>
            </a:r>
            <a:endParaRPr lang="en-US" sz="1333" dirty="0"/>
          </a:p>
        </p:txBody>
      </p:sp>
      <p:sp>
        <p:nvSpPr>
          <p:cNvPr id="13" name="Text 10"/>
          <p:cNvSpPr/>
          <p:nvPr/>
        </p:nvSpPr>
        <p:spPr>
          <a:xfrm>
            <a:off x="3705226" y="2642221"/>
            <a:ext cx="2066925" cy="676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2000"/>
              </a:lnSpc>
            </a:pPr>
            <a:r>
              <a:rPr lang="en-US" sz="1333" dirty="0">
                <a:solidFill>
                  <a:srgbClr val="FFFFFF"/>
                </a:solidFill>
                <a:ea typeface="Inter" pitchFamily="34" charset="-122"/>
                <a:cs typeface="Inter" pitchFamily="34" charset="-120"/>
              </a:rPr>
              <a:t>Validação instantânea: se houver atraso, o pedido é bloqueado no ato.</a:t>
            </a:r>
            <a:endParaRPr lang="en-US" sz="1333" dirty="0"/>
          </a:p>
        </p:txBody>
      </p:sp>
      <p:sp>
        <p:nvSpPr>
          <p:cNvPr id="14" name="Shape 11"/>
          <p:cNvSpPr/>
          <p:nvPr/>
        </p:nvSpPr>
        <p:spPr>
          <a:xfrm>
            <a:off x="6191251" y="1813545"/>
            <a:ext cx="2524125" cy="1655267"/>
          </a:xfrm>
          <a:prstGeom prst="rect">
            <a:avLst/>
          </a:prstGeom>
          <a:solidFill>
            <a:srgbClr val="F0F4F5"/>
          </a:solidFill>
          <a:ln/>
        </p:spPr>
      </p:sp>
      <p:sp>
        <p:nvSpPr>
          <p:cNvPr id="15" name="Shape 12"/>
          <p:cNvSpPr/>
          <p:nvPr/>
        </p:nvSpPr>
        <p:spPr>
          <a:xfrm>
            <a:off x="6191251" y="3430713"/>
            <a:ext cx="2524125" cy="38100"/>
          </a:xfrm>
          <a:prstGeom prst="rect">
            <a:avLst/>
          </a:prstGeom>
          <a:solidFill>
            <a:srgbClr val="D1DCE0"/>
          </a:solidFill>
          <a:ln/>
        </p:spPr>
      </p:sp>
      <p:sp>
        <p:nvSpPr>
          <p:cNvPr id="16" name="Text 13"/>
          <p:cNvSpPr/>
          <p:nvPr/>
        </p:nvSpPr>
        <p:spPr>
          <a:xfrm>
            <a:off x="6419851" y="2042146"/>
            <a:ext cx="2066925" cy="2051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333" b="1" dirty="0">
                <a:solidFill>
                  <a:srgbClr val="1A2527">
                    <a:alpha val="70000"/>
                  </a:srgbClr>
                </a:solidFill>
                <a:ea typeface="Inter Bold" pitchFamily="34" charset="-122"/>
                <a:cs typeface="Inter Bold" pitchFamily="34" charset="-120"/>
              </a:rPr>
              <a:t>PASSO 3</a:t>
            </a:r>
            <a:endParaRPr lang="en-US" sz="1333" dirty="0"/>
          </a:p>
        </p:txBody>
      </p:sp>
      <p:sp>
        <p:nvSpPr>
          <p:cNvPr id="17" name="Text 14"/>
          <p:cNvSpPr/>
          <p:nvPr/>
        </p:nvSpPr>
        <p:spPr>
          <a:xfrm>
            <a:off x="6419851" y="2294558"/>
            <a:ext cx="2066925" cy="2051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333" b="1" dirty="0">
                <a:solidFill>
                  <a:srgbClr val="1A2527"/>
                </a:solidFill>
                <a:ea typeface="Manrope Bold" pitchFamily="34" charset="-122"/>
                <a:cs typeface="Manrope Bold" pitchFamily="34" charset="-120"/>
              </a:rPr>
              <a:t>Liberação da Guia</a:t>
            </a:r>
            <a:endParaRPr lang="en-US" sz="1333" dirty="0"/>
          </a:p>
        </p:txBody>
      </p:sp>
      <p:sp>
        <p:nvSpPr>
          <p:cNvPr id="18" name="Text 15"/>
          <p:cNvSpPr/>
          <p:nvPr/>
        </p:nvSpPr>
        <p:spPr>
          <a:xfrm>
            <a:off x="6419851" y="2642221"/>
            <a:ext cx="2066925" cy="676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2000"/>
              </a:lnSpc>
            </a:pPr>
            <a:r>
              <a:rPr lang="en-US" sz="1333" dirty="0">
                <a:solidFill>
                  <a:srgbClr val="1A2527"/>
                </a:solidFill>
                <a:ea typeface="Inter" pitchFamily="34" charset="-122"/>
                <a:cs typeface="Inter" pitchFamily="34" charset="-120"/>
              </a:rPr>
              <a:t>Se elegível, a cooperativa audita e libera o serviço em tempo real.</a:t>
            </a:r>
            <a:endParaRPr lang="en-US" sz="1333" dirty="0"/>
          </a:p>
        </p:txBody>
      </p:sp>
      <p:sp>
        <p:nvSpPr>
          <p:cNvPr id="19" name="Shape 16"/>
          <p:cNvSpPr/>
          <p:nvPr/>
        </p:nvSpPr>
        <p:spPr>
          <a:xfrm>
            <a:off x="8905875" y="1813545"/>
            <a:ext cx="2524125" cy="1655267"/>
          </a:xfrm>
          <a:prstGeom prst="rect">
            <a:avLst/>
          </a:prstGeom>
          <a:solidFill>
            <a:srgbClr val="F0F4F5"/>
          </a:solidFill>
          <a:ln/>
        </p:spPr>
      </p:sp>
      <p:sp>
        <p:nvSpPr>
          <p:cNvPr id="20" name="Shape 17"/>
          <p:cNvSpPr/>
          <p:nvPr/>
        </p:nvSpPr>
        <p:spPr>
          <a:xfrm>
            <a:off x="8905875" y="3430713"/>
            <a:ext cx="2524125" cy="38100"/>
          </a:xfrm>
          <a:prstGeom prst="rect">
            <a:avLst/>
          </a:prstGeom>
          <a:solidFill>
            <a:srgbClr val="D1DCE0"/>
          </a:solidFill>
          <a:ln/>
        </p:spPr>
      </p:sp>
      <p:sp>
        <p:nvSpPr>
          <p:cNvPr id="21" name="Text 18"/>
          <p:cNvSpPr/>
          <p:nvPr/>
        </p:nvSpPr>
        <p:spPr>
          <a:xfrm>
            <a:off x="9134475" y="2042146"/>
            <a:ext cx="2066925" cy="2051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333" b="1" dirty="0">
                <a:solidFill>
                  <a:srgbClr val="1A2527">
                    <a:alpha val="70000"/>
                  </a:srgbClr>
                </a:solidFill>
                <a:ea typeface="Inter Bold" pitchFamily="34" charset="-122"/>
                <a:cs typeface="Inter Bold" pitchFamily="34" charset="-120"/>
              </a:rPr>
              <a:t>PASSO 4</a:t>
            </a:r>
            <a:endParaRPr lang="en-US" sz="1333" dirty="0"/>
          </a:p>
        </p:txBody>
      </p:sp>
      <p:sp>
        <p:nvSpPr>
          <p:cNvPr id="22" name="Text 19"/>
          <p:cNvSpPr/>
          <p:nvPr/>
        </p:nvSpPr>
        <p:spPr>
          <a:xfrm>
            <a:off x="9134475" y="2294558"/>
            <a:ext cx="2066925" cy="2051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333" b="1" dirty="0">
                <a:solidFill>
                  <a:srgbClr val="1A2527"/>
                </a:solidFill>
                <a:ea typeface="Manrope Bold" pitchFamily="34" charset="-122"/>
                <a:cs typeface="Manrope Bold" pitchFamily="34" charset="-120"/>
              </a:rPr>
              <a:t>Acesso Mobile</a:t>
            </a:r>
            <a:endParaRPr lang="en-US" sz="1333" dirty="0"/>
          </a:p>
        </p:txBody>
      </p:sp>
      <p:sp>
        <p:nvSpPr>
          <p:cNvPr id="23" name="Text 20"/>
          <p:cNvSpPr/>
          <p:nvPr/>
        </p:nvSpPr>
        <p:spPr>
          <a:xfrm>
            <a:off x="9134475" y="2642221"/>
            <a:ext cx="2066925" cy="676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2000"/>
              </a:lnSpc>
            </a:pPr>
            <a:r>
              <a:rPr lang="en-US" sz="1333" dirty="0">
                <a:solidFill>
                  <a:srgbClr val="1A2527"/>
                </a:solidFill>
                <a:ea typeface="Inter" pitchFamily="34" charset="-122"/>
                <a:cs typeface="Inter" pitchFamily="34" charset="-120"/>
              </a:rPr>
              <a:t>O cooperado vê a guia liberada no celular e realiza o procedimento.</a:t>
            </a:r>
            <a:endParaRPr lang="en-US" sz="1333" dirty="0"/>
          </a:p>
        </p:txBody>
      </p:sp>
      <p:sp>
        <p:nvSpPr>
          <p:cNvPr id="24" name="Shape 21"/>
          <p:cNvSpPr/>
          <p:nvPr/>
        </p:nvSpPr>
        <p:spPr>
          <a:xfrm>
            <a:off x="762000" y="3811712"/>
            <a:ext cx="10668000" cy="2312864"/>
          </a:xfrm>
          <a:prstGeom prst="rect">
            <a:avLst/>
          </a:prstGeom>
          <a:solidFill>
            <a:srgbClr val="F0F4F5"/>
          </a:solidFill>
          <a:ln/>
        </p:spPr>
      </p:sp>
      <p:sp>
        <p:nvSpPr>
          <p:cNvPr id="25" name="Shape 22"/>
          <p:cNvSpPr/>
          <p:nvPr/>
        </p:nvSpPr>
        <p:spPr>
          <a:xfrm>
            <a:off x="762001" y="3811712"/>
            <a:ext cx="38100" cy="2312864"/>
          </a:xfrm>
          <a:prstGeom prst="rect">
            <a:avLst/>
          </a:prstGeom>
          <a:solidFill>
            <a:srgbClr val="00875A"/>
          </a:solidFill>
          <a:ln/>
        </p:spPr>
      </p:sp>
      <p:sp>
        <p:nvSpPr>
          <p:cNvPr id="26" name="Text 23"/>
          <p:cNvSpPr/>
          <p:nvPr/>
        </p:nvSpPr>
        <p:spPr>
          <a:xfrm>
            <a:off x="1066801" y="4116513"/>
            <a:ext cx="3870945" cy="236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6000"/>
              </a:lnSpc>
            </a:pPr>
            <a:r>
              <a:rPr lang="en-US" sz="1600" b="1" dirty="0">
                <a:solidFill>
                  <a:srgbClr val="0D3B43"/>
                </a:solidFill>
                <a:latin typeface="Manrope ExtraBold" pitchFamily="34" charset="0"/>
                <a:ea typeface="Manrope ExtraBold" pitchFamily="34" charset="-122"/>
                <a:cs typeface="Manrope ExtraBold" pitchFamily="34" charset="-120"/>
              </a:rPr>
              <a:t>Impacto Financeiro Direto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5318746" y="4116512"/>
            <a:ext cx="5806455" cy="12359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8000"/>
              </a:lnSpc>
            </a:pPr>
            <a:r>
              <a:rPr lang="en-US" sz="1600" dirty="0">
                <a:solidFill>
                  <a:srgbClr val="4A5C60"/>
                </a:solidFill>
                <a:ea typeface="Inter" pitchFamily="34" charset="-122"/>
                <a:cs typeface="Inter" pitchFamily="34" charset="-120"/>
              </a:rPr>
              <a:t>O Siscoop3F elimina a </a:t>
            </a:r>
            <a:r>
              <a:rPr lang="en-US" sz="1600" b="1" dirty="0">
                <a:solidFill>
                  <a:srgbClr val="0D3B43"/>
                </a:solidFill>
                <a:ea typeface="Inter Bold" pitchFamily="34" charset="-122"/>
                <a:cs typeface="Inter Bold" pitchFamily="34" charset="-120"/>
              </a:rPr>
              <a:t>"inadimplência silenciosa"</a:t>
            </a:r>
            <a:r>
              <a:rPr lang="en-US" sz="1600" dirty="0">
                <a:solidFill>
                  <a:srgbClr val="4A5C60"/>
                </a:solidFill>
                <a:ea typeface="Inter" pitchFamily="34" charset="-122"/>
                <a:cs typeface="Inter" pitchFamily="34" charset="-120"/>
              </a:rPr>
              <a:t>. Acaba definitivamente com o custo de consultas e exames realizados por associados com pagamentos atrasados, protegendo o caixa da cooperativa contra perdas evitáveis.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762001" y="6124576"/>
            <a:ext cx="3467100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000" dirty="0">
                <a:solidFill>
                  <a:srgbClr val="4A5C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Siscoop3F • Sistema Integrado de Gestão Cooperativa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10639426" y="6124575"/>
            <a:ext cx="735779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rPr lang="en-US" sz="1000" dirty="0">
                <a:solidFill>
                  <a:srgbClr val="4A5C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7 de 12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PAINEL EXECUTIVO DA DIRETORIA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6858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Visão Estratégica em Tempo Real com Dados Consolidados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Todos os números vitais da cooperativa: cooperados ativos, fluxo de caixa e capital social.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70560" y="1508760"/>
            <a:ext cx="10515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4369" y="1737360"/>
            <a:ext cx="4389120" cy="425196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2969" y="19202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INDICADORES EM TEMPO REAL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92969" y="228600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COOPERADOS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92969" y="248716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Digital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92969" y="28346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Ativos, inadimplentes e dependentes integrados.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92969" y="324612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SOCIAL COOPERATIVO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92969" y="344728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R$ 1.500,00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92969" y="37947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Patrimônio integralizado auditável em tempo real.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92969" y="420624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AUDITORIA DE SAÚDE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92969" y="440740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Fluxo Invertido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92969" y="47548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Autorizações, faturamento de prestadores e reembolsos.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92969" y="5166360"/>
            <a:ext cx="3931920" cy="640080"/>
          </a:xfrm>
          <a:prstGeom prst="roundRect">
            <a:avLst>
              <a:gd name="adj" fmla="val 11429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4409" y="52578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Transparência total para prestação de contas aos conselhos fiscal e de administração.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82296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Siscoop3F • Sistema Integrado de Gestão Cooperativa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9509760" y="6309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4 de 12</a:t>
            </a:r>
            <a:endParaRPr lang="en-US" sz="900" dirty="0"/>
          </a:p>
        </p:txBody>
      </p:sp>
      <p:pic>
        <p:nvPicPr>
          <p:cNvPr id="23" name="Imagem 22" descr="Interface gráfica do usuário, Aplicativo, Teams&#10;&#10;Descrição gerada automaticamente">
            <a:extLst>
              <a:ext uri="{FF2B5EF4-FFF2-40B4-BE49-F238E27FC236}">
                <a16:creationId xmlns:a16="http://schemas.microsoft.com/office/drawing/2014/main" id="{0D11DA4F-8FCC-42FD-9072-52C8C6B08F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1268" y="1792492"/>
            <a:ext cx="6364941" cy="411524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 DO COOPERADO &amp; ONBOARDING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6858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Admissão Digital sem Fraudes &amp; Perfil 360° com Abas Especializadas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Entrada rápida de associados com validação automática de CPF e ficha completa em tela única.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22960" y="1508760"/>
            <a:ext cx="10515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2960" y="4709160"/>
            <a:ext cx="41148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0120" y="480060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 PÚBLICO DIGITAL (/adesao)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960120" y="507492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Validação matemática de CPF, bloqueio de duplicidade em tempo real, escolha de cota de entrada e assinatura do termo cooperativo sem burocracia de papel.</a:t>
            </a:r>
            <a:endParaRPr lang="en-US" sz="850" dirty="0"/>
          </a:p>
        </p:txBody>
      </p:sp>
      <p:sp>
        <p:nvSpPr>
          <p:cNvPr id="11" name="Shape 7"/>
          <p:cNvSpPr/>
          <p:nvPr/>
        </p:nvSpPr>
        <p:spPr>
          <a:xfrm>
            <a:off x="5213873" y="5349240"/>
            <a:ext cx="6172200" cy="640080"/>
          </a:xfrm>
          <a:prstGeom prst="roundRect">
            <a:avLst>
              <a:gd name="adj" fmla="val 11429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488193" y="5444714"/>
            <a:ext cx="5897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Perfil 360° (Show.vue): Abas de Atendimentos, Mensalidades, Dependentes e Documentos Digitais com aprovação/recusa formal.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82296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Siscoop3F • Sistema Integrado de Gestão Cooperativa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9509760" y="6309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5 de 12</a:t>
            </a:r>
            <a:endParaRPr lang="en-US" sz="900" dirty="0"/>
          </a:p>
        </p:txBody>
      </p:sp>
      <p:pic>
        <p:nvPicPr>
          <p:cNvPr id="16" name="Imagem 15" descr="Tela de celular com fundo preto&#10;&#10;Descrição gerada automaticamente">
            <a:extLst>
              <a:ext uri="{FF2B5EF4-FFF2-40B4-BE49-F238E27FC236}">
                <a16:creationId xmlns:a16="http://schemas.microsoft.com/office/drawing/2014/main" id="{C04EAAA6-8DB7-4049-97DA-B5C02E7E42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83" y="1615888"/>
            <a:ext cx="4704677" cy="2940423"/>
          </a:xfrm>
          <a:prstGeom prst="rect">
            <a:avLst/>
          </a:prstGeom>
        </p:spPr>
      </p:pic>
      <p:pic>
        <p:nvPicPr>
          <p:cNvPr id="18" name="Imagem 17" descr="Interface gráfica do usuário, Aplicativo&#10;&#10;Descrição gerada automaticamente">
            <a:extLst>
              <a:ext uri="{FF2B5EF4-FFF2-40B4-BE49-F238E27FC236}">
                <a16:creationId xmlns:a16="http://schemas.microsoft.com/office/drawing/2014/main" id="{D9C10DE1-4CC6-4DD7-9DDA-289F24F0C7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8546" y="1631016"/>
            <a:ext cx="5802854" cy="362678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GOVERNANÇA &amp; CAPITAL SOCIAL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6858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 do Capital Social (Admin) &amp; Extrato do Cooperado no Celular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Cota Capital é o alicerce financeiro da cooperativa: controle rigoroso e transparência imediata.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22960" y="1508760"/>
            <a:ext cx="10515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70562" y="5166360"/>
            <a:ext cx="512064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7722" y="525780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 DO CAPITAL SOCIAL (DIRETORIA / CONSELHO)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07722" y="550468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Subscrições, integralizações em lote, histórico de aportes e liquidações por desligamento com rastreabilidade contábil completa.</a:t>
            </a:r>
            <a:endParaRPr lang="en-US" sz="850" dirty="0"/>
          </a:p>
        </p:txBody>
      </p:sp>
      <p:sp>
        <p:nvSpPr>
          <p:cNvPr id="11" name="Shape 7"/>
          <p:cNvSpPr/>
          <p:nvPr/>
        </p:nvSpPr>
        <p:spPr>
          <a:xfrm>
            <a:off x="6217920" y="5166360"/>
            <a:ext cx="5120640" cy="822960"/>
          </a:xfrm>
          <a:prstGeom prst="roundRect">
            <a:avLst>
              <a:gd name="adj" fmla="val 11111"/>
            </a:avLst>
          </a:prstGeom>
          <a:solidFill>
            <a:srgbClr val="14422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355080" y="525780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VISÃO DO ASSOCIADO (PORTAL DO COOPERADO)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6355080" y="550468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cooperado vê na palma da mão o saldo de quotas integralizadas, valor unitário e total acumulado, gerando forte sentimento de dono.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82296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Siscoop3F • Sistema Integrado de Gestão Cooperativa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9509760" y="6309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6 de 12</a:t>
            </a:r>
            <a:endParaRPr lang="en-US" sz="900" dirty="0"/>
          </a:p>
        </p:txBody>
      </p:sp>
      <p:pic>
        <p:nvPicPr>
          <p:cNvPr id="17" name="Imagem 16" descr="Interface gráfica do usuário, Aplicativo, Teams&#10;&#10;Descrição gerada automaticamente">
            <a:extLst>
              <a:ext uri="{FF2B5EF4-FFF2-40B4-BE49-F238E27FC236}">
                <a16:creationId xmlns:a16="http://schemas.microsoft.com/office/drawing/2014/main" id="{15CC92E9-A741-4C35-8FD8-55CC2BA3D3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1668780"/>
            <a:ext cx="5340096" cy="3337560"/>
          </a:xfrm>
          <a:prstGeom prst="rect">
            <a:avLst/>
          </a:prstGeom>
        </p:spPr>
      </p:pic>
      <p:pic>
        <p:nvPicPr>
          <p:cNvPr id="19" name="Imagem 18" descr="Tela de vídeo game&#10;&#10;Descrição gerada automaticamente">
            <a:extLst>
              <a:ext uri="{FF2B5EF4-FFF2-40B4-BE49-F238E27FC236}">
                <a16:creationId xmlns:a16="http://schemas.microsoft.com/office/drawing/2014/main" id="{4FC62AC9-7DE7-4D6E-9826-9A07ADCEC7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3328" y="1668780"/>
            <a:ext cx="5340096" cy="33375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OPERAÇÃO DE SAÚDE &amp; CREDENCIADOS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6858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Fluxo Invertido &amp; Trava Automática de Inadimplência na Recepção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prestador digita o CPF: o sistema verifica adimplência em milissegundos antes de autorizar o serviço.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22960" y="1508760"/>
            <a:ext cx="10515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07805" y="5349240"/>
            <a:ext cx="5486400" cy="640080"/>
          </a:xfrm>
          <a:prstGeom prst="roundRect">
            <a:avLst>
              <a:gd name="adj" fmla="val 11429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4965" y="544068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 DO PARCEIRO: Busca por CPF/Matrícula com seleção direta do catálogo credenciado.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6537960" y="1737360"/>
            <a:ext cx="4800600" cy="425196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720840" y="192024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ETAPAS DO FLUXO INVERTIDO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720840" y="233172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01. Busca na Recepção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995160" y="2578608"/>
            <a:ext cx="4114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Clínica digita CPF ou Matrícula do paciente no portal.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6720840" y="320040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02. Trava Financeira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995160" y="3447288"/>
            <a:ext cx="4114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houver atraso na mensalidade ou cota, o sistema bloqueia imediatamente o atendimento.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6720840" y="406908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03. Emissão de Guia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995160" y="4315968"/>
            <a:ext cx="4114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adimplente, a clínica seleciona o serviço contratado e envia para a fila de autorização.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6720840" y="493776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04. Auditoria Central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995160" y="5184648"/>
            <a:ext cx="4114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cooperativa analisa e aprova em 1 clique. O paciente vê a guia no próprio celular.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82296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Siscoop3F • Sistema Integrado de Gestão Cooperativa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9509760" y="6309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7 de 12</a:t>
            </a:r>
            <a:endParaRPr lang="en-US" sz="900" dirty="0"/>
          </a:p>
        </p:txBody>
      </p:sp>
      <p:pic>
        <p:nvPicPr>
          <p:cNvPr id="22" name="Imagem 21" descr="Tela de celular com fundo preto&#10;&#10;Descrição gerada automaticamente">
            <a:extLst>
              <a:ext uri="{FF2B5EF4-FFF2-40B4-BE49-F238E27FC236}">
                <a16:creationId xmlns:a16="http://schemas.microsoft.com/office/drawing/2014/main" id="{FE98A60C-2539-4E01-BC31-219BAD0267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" y="1617344"/>
            <a:ext cx="5861304" cy="366331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CICLO FINANCEIRO &amp; AUDITORIA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6858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Faturamento Mensal da Rede (Dia 05) &amp; Reembolsos com Coparticipação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Prestadores submetem lotes consolidados e a cooperativa audita sem depender de papel.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22960" y="1508760"/>
            <a:ext cx="10515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2960" y="5166360"/>
            <a:ext cx="512064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0120" y="525780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FATURAMENTO DOS PRESTADORES (REGRA DIA 05)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960120" y="550468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rede envia NF-e e lote consolidado até o dia 05. A administração audita atendimentos e programa repasse seguro para o dia 05 seguinte.</a:t>
            </a:r>
            <a:endParaRPr lang="en-US" sz="850" dirty="0"/>
          </a:p>
        </p:txBody>
      </p:sp>
      <p:sp>
        <p:nvSpPr>
          <p:cNvPr id="11" name="Shape 7"/>
          <p:cNvSpPr/>
          <p:nvPr/>
        </p:nvSpPr>
        <p:spPr>
          <a:xfrm>
            <a:off x="6433071" y="5166360"/>
            <a:ext cx="5120640" cy="822960"/>
          </a:xfrm>
          <a:prstGeom prst="roundRect">
            <a:avLst>
              <a:gd name="adj" fmla="val 11111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570231" y="525780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DE REEMBOLSOS MÉDICOS COM COPARTICIPAÇÃO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6570231" y="550468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cooperado solicita reembolso pelo celular anexando nota fiscal. Ao aprovar, o sistema gera o título a pagar e lança a coparticipação (ex: 30%) a receber.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82296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Siscoop3F • Sistema Integrado de Gestão Cooperativa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9509760" y="6309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8 de 12</a:t>
            </a:r>
            <a:endParaRPr lang="en-US" sz="900" dirty="0"/>
          </a:p>
        </p:txBody>
      </p:sp>
      <p:pic>
        <p:nvPicPr>
          <p:cNvPr id="19" name="Imagem 18" descr="Tela de celular&#10;&#10;Descrição gerada automaticamente">
            <a:extLst>
              <a:ext uri="{FF2B5EF4-FFF2-40B4-BE49-F238E27FC236}">
                <a16:creationId xmlns:a16="http://schemas.microsoft.com/office/drawing/2014/main" id="{C5D94498-95D5-4389-9648-40D1DAE57C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600200"/>
            <a:ext cx="5486400" cy="3429000"/>
          </a:xfrm>
          <a:prstGeom prst="rect">
            <a:avLst/>
          </a:prstGeom>
        </p:spPr>
      </p:pic>
      <p:pic>
        <p:nvPicPr>
          <p:cNvPr id="21" name="Imagem 20" descr="Tela de celular com fundo preto&#10;&#10;Descrição gerada automaticamente">
            <a:extLst>
              <a:ext uri="{FF2B5EF4-FFF2-40B4-BE49-F238E27FC236}">
                <a16:creationId xmlns:a16="http://schemas.microsoft.com/office/drawing/2014/main" id="{375917AE-5406-4D10-9980-2103BB865D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633815"/>
            <a:ext cx="5486402" cy="342900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EXPERIÊNCIA DO ASSOCIADO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6858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Extrato Financeiro com PIX Imediato &amp; Gestão Familiar sem Burocracia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cooperado regulariza débitos em segundos e compartilha acesso com dependentes via Link Mágico.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22960" y="1508760"/>
            <a:ext cx="10515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97453" y="5166360"/>
            <a:ext cx="512064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34613" y="525780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EXTRATO FINANCEIRO &amp; PAGAMENTO INSTANTÂNEO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34613" y="550468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Demonstrativo claro de mensalidades quitadas e pendentes com botão de pagamento imediato via chave PIX copia e cola e QR Code dinâmico.</a:t>
            </a:r>
            <a:endParaRPr lang="en-US" sz="850" dirty="0"/>
          </a:p>
        </p:txBody>
      </p:sp>
      <p:sp>
        <p:nvSpPr>
          <p:cNvPr id="11" name="Shape 7"/>
          <p:cNvSpPr/>
          <p:nvPr/>
        </p:nvSpPr>
        <p:spPr>
          <a:xfrm>
            <a:off x="6217920" y="5166360"/>
            <a:ext cx="5120640" cy="822960"/>
          </a:xfrm>
          <a:prstGeom prst="roundRect">
            <a:avLst>
              <a:gd name="adj" fmla="val 11111"/>
            </a:avLst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355080" y="525780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MÁGICO PARA DEPENDENTES (SEM SENHAS)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6355080" y="550468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C1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titular clica em 'Copiar Link Mágico' e envia aos familiares no WhatsApp. O dependente acessa validando os 5 dígitos do CPF, sem ver dados financeiros do titular.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82296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Siscoop3F • Sistema Integrado de Gestão Cooperativa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9509760" y="6309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9 de 12</a:t>
            </a:r>
            <a:endParaRPr lang="en-US" sz="900" dirty="0"/>
          </a:p>
        </p:txBody>
      </p:sp>
      <p:pic>
        <p:nvPicPr>
          <p:cNvPr id="17" name="Imagem 16" descr="Tela de vídeo game&#10;&#10;Descrição gerada automaticamente">
            <a:extLst>
              <a:ext uri="{FF2B5EF4-FFF2-40B4-BE49-F238E27FC236}">
                <a16:creationId xmlns:a16="http://schemas.microsoft.com/office/drawing/2014/main" id="{DB02E5AB-82A5-4C66-B3A7-A6DB667C0A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149" y="1741931"/>
            <a:ext cx="5405932" cy="3378708"/>
          </a:xfrm>
          <a:prstGeom prst="rect">
            <a:avLst/>
          </a:prstGeom>
        </p:spPr>
      </p:pic>
      <p:pic>
        <p:nvPicPr>
          <p:cNvPr id="19" name="Imagem 18" descr="Tela de computador com fundo preto&#10;&#10;Descrição gerada automaticamente">
            <a:extLst>
              <a:ext uri="{FF2B5EF4-FFF2-40B4-BE49-F238E27FC236}">
                <a16:creationId xmlns:a16="http://schemas.microsoft.com/office/drawing/2014/main" id="{85B53C05-411D-4FA7-85A9-59F37A72EB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1741931"/>
            <a:ext cx="5405933" cy="337870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DE CUSTOS &amp; ROI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6858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Economia Operacional Direta e Redução de Perdas Financeiras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Demonstrativo prático de como o sistema reduz despesas mensais e se paga nos primeiros meses.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22960" y="1508760"/>
            <a:ext cx="10515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737360"/>
            <a:ext cx="3337560" cy="2971800"/>
          </a:xfrm>
          <a:prstGeom prst="roundRect">
            <a:avLst>
              <a:gd name="adj" fmla="val 3692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920240"/>
            <a:ext cx="2971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ESTANCAMENTO DE PERDAS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05840" y="214884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Eliminação da Inadimplência Silenciosa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260604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R$ 4.000 a R$ 8.500 / mês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005840" y="3108960"/>
            <a:ext cx="29718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o sistema, associados atrasados continuam utilizando guias médicas. Com a trava de elegibilidade em tempo real na recepção do prestador, o custo indevido cai a zero imediatamente.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434840" y="1737360"/>
            <a:ext cx="3337560" cy="2971800"/>
          </a:xfrm>
          <a:prstGeom prst="roundRect">
            <a:avLst>
              <a:gd name="adj" fmla="val 3692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1920240"/>
            <a:ext cx="2971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EFICIÊNCIA DE EQUIPE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617720" y="214884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Redução de Equipe em Rotinas Manuais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17720" y="260604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Economia de 2 a 3 colaboradores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617720" y="3108960"/>
            <a:ext cx="29718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Conferência manual de faturas de prestadores, envio de 2ª via de boletos, atendimento telefônico de consultas e digitação de adesões em papel são 100% automatizados.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8046720" y="1737360"/>
            <a:ext cx="3337560" cy="2971800"/>
          </a:xfrm>
          <a:prstGeom prst="roundRect">
            <a:avLst>
              <a:gd name="adj" fmla="val 3692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0" y="1920240"/>
            <a:ext cx="2971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REDUÇÃO BANCÁRIA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214884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Cobrança Instantânea via PIX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0" y="260604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Redução de até 85% em tarifas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229600" y="3108960"/>
            <a:ext cx="29718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Substituição progressiva de boletos bancários tradicionais por PIX dinâmico e conciliação bancária direta, diminuindo custos com tarifas de liquidação e cartórios.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822960" y="4892040"/>
            <a:ext cx="10515600" cy="1143000"/>
          </a:xfrm>
          <a:prstGeom prst="roundRect">
            <a:avLst>
              <a:gd name="adj" fmla="val 8000"/>
            </a:avLst>
          </a:prstGeom>
          <a:solidFill>
            <a:srgbClr val="14422B"/>
          </a:solidFill>
          <a:ln/>
        </p:spPr>
      </p:sp>
      <p:sp>
        <p:nvSpPr>
          <p:cNvPr id="22" name="Text 20"/>
          <p:cNvSpPr/>
          <p:nvPr/>
        </p:nvSpPr>
        <p:spPr>
          <a:xfrm>
            <a:off x="1051560" y="50292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RESUMO DE RETORNO DO INVESTIMENTO (PAYBACK):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051560" y="5285232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Somando a blindagem de procedimentos indevidos, a redução de tarifas bancárias e o ganho de produtividade administrativa, a implantação do Siscoop3F gera um retorno estimado de 3x a 5x o investimento nos primeiros 12 meses de operação plena.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2296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Siscoop3F • Sistema Integrado de Gestão Cooperativa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509760" y="6309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10 de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 COMPARATIVA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6858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Quadro Comparativo: Gestão Tradicional vs Plataforma Siscoop3F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Visão clara e objetiva para a avaliação do Conselho e Diretoria.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22960" y="1508760"/>
            <a:ext cx="10515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691640"/>
            <a:ext cx="10515600" cy="411480"/>
          </a:xfrm>
          <a:prstGeom prst="roundRect">
            <a:avLst>
              <a:gd name="adj" fmla="val 17778"/>
            </a:avLst>
          </a:prstGeom>
          <a:solidFill>
            <a:srgbClr val="166534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7830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DIMENSÃO OPERACIONAL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474720" y="17830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E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 TRADICIONAL (MANUAL)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132320" y="178308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BF7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O SISCOOP3F (DIGITAL)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22960" y="2194560"/>
            <a:ext cx="105156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22860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 da Cota Capital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474720" y="228600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Caderno ou planilha; cooperado não sabe seu saldo.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7132320" y="228600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Módulo próprio, integralizações auditáveis e extrato digital no celular.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22960" y="2971800"/>
            <a:ext cx="10515600" cy="6858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30632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Controle de Inadimplência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474720" y="306324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Descoberta tardia após a conta médica já chegar cobrada.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7132320" y="306324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Trava instantânea no portal do prestador antes do atendimento.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822960" y="3749040"/>
            <a:ext cx="105156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1560" y="38404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Faturamento dos Prestadores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474720" y="384048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Envio de papéis e malotes; conferência manual desgastante.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132320" y="384048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Envio digital de lotes e NF-e até dia 05 com auditoria médica 1-click.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822960" y="4526280"/>
            <a:ext cx="10515600" cy="6858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51560" y="46177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Acesso de Familiares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474720" y="461772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Criação de senhas esquecidas e suporte diário da cooperativa.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132320" y="461772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Link Mágico enviado no WhatsApp pelo titular com validação de CPF.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822960" y="5303520"/>
            <a:ext cx="105156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51560" y="53949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Prestação de Contas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474720" y="539496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Dias montando dados para assembleias e Conselho Fiscal.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132320" y="539496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Relatórios analíticos em Excel e fluxo de caixa semestral em tempo real.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82296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Siscoop3F • Sistema Integrado de Gestão Cooperativa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509760" y="6309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11 de 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9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CONFIABILIDADE &amp; DECISÃO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6858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Segurança, Compliance e o Futuro da Nossa Cooperativa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22960" y="1234440"/>
            <a:ext cx="10515600" cy="0"/>
          </a:xfrm>
          <a:prstGeom prst="line">
            <a:avLst/>
          </a:prstGeom>
          <a:noFill/>
          <a:ln w="12700">
            <a:solidFill>
              <a:srgbClr val="1E5E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0876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14422B"/>
          </a:solidFill>
          <a:ln w="12700">
            <a:solidFill>
              <a:srgbClr val="1E5E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69164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MULTI-TENANT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" y="19659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Isolamento Multi-Tenant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2377440"/>
            <a:ext cx="2834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Arquitetura com banco de dados isolado por entidade: as informações financeiras e médicas da cooperativa ficam 100% blindadas.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434840" y="150876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14422B"/>
          </a:solidFill>
          <a:ln w="12700">
            <a:solidFill>
              <a:srgbClr val="1E5E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69164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SEGURANÇA JURÍDICA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663440" y="19659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Conformidade LGPD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63440" y="2377440"/>
            <a:ext cx="2834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Criptografia de ponta a ponta para CPFs e dados sensíveis. Termos de consentimento com registro formal de data/hora no banco.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046720" y="150876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14422B"/>
          </a:solidFill>
          <a:ln w="12700">
            <a:solidFill>
              <a:srgbClr val="1E5E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75320" y="169164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GOVERNANÇA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75320" y="19659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Prestação de Contas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75320" y="2377440"/>
            <a:ext cx="2834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Relatórios completos em Excel (.xlsx) de associados, financeiro, prestadores e adesões prontos para auditorias fiscais.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22960" y="4069080"/>
            <a:ext cx="10515600" cy="1920240"/>
          </a:xfrm>
          <a:prstGeom prst="roundRect">
            <a:avLst>
              <a:gd name="adj" fmla="val 5714"/>
            </a:avLst>
          </a:prstGeom>
          <a:solidFill>
            <a:srgbClr val="166534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4251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PROPOSTA DE VALOR PARA A DIRETORIA: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051560" y="45720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adoção do Siscoop3F posiciona a cooperativa na vanguarda da governança digital, reduzindo custos operacionais com atendimento e conferência manual, zerando o uso indevido por inadimplentes e oferecendo ao cooperado a clareza de que seu patrimônio em Cota Capital é valorizado dia após dia.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051560" y="54406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DE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Estamos à disposição para esclarecimentos e deliberação da Diretoria.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296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Siscoop3F • Sistema Integrado de Gestão Cooperativa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509760" y="6309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12 de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1991</Words>
  <Application>Microsoft Office PowerPoint</Application>
  <PresentationFormat>Widescreen</PresentationFormat>
  <Paragraphs>251</Paragraphs>
  <Slides>14</Slides>
  <Notes>14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21" baseType="lpstr">
      <vt:lpstr>Arial</vt:lpstr>
      <vt:lpstr>Calibri</vt:lpstr>
      <vt:lpstr>Inter</vt:lpstr>
      <vt:lpstr>Inter SemiBold</vt:lpstr>
      <vt:lpstr>Manrope Bold</vt:lpstr>
      <vt:lpstr>Manrope ExtraBold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Cooperativa AgroCoop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Siscoop3F - Gestão Integrada para Cooperativas</dc:title>
  <dc:subject>PptxGenJS Presentation</dc:subject>
  <dc:creator>Siscoop3F</dc:creator>
  <cp:lastModifiedBy>Gerson</cp:lastModifiedBy>
  <cp:revision>3</cp:revision>
  <dcterms:created xsi:type="dcterms:W3CDTF">2026-09-09T13:45:36Z</dcterms:created>
  <dcterms:modified xsi:type="dcterms:W3CDTF">2026-09-09T14:15:41Z</dcterms:modified>
</cp:coreProperties>
</file>